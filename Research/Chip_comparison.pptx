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1" r:id="rId6"/>
    <p:sldId id="260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="" xmlns:p14="http://schemas.microsoft.com/office/powerpoint/2010/main">
          <a:srgbClr val="FF0000"/>
        </p14:laserClr>
      </p:ext>
      <p:ext uri="{2FDB2607-1784-4EEB-B798-7EB5836EED8A}">
        <p14:showMediaCtrls xmlns="" xmlns:p14="http://schemas.microsoft.com/office/powerpoint/2010/main" val="1"/>
      </p:ext>
    </p:extLst>
  </p:showPr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220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 autoAdjust="0"/>
    <p:restoredTop sz="94721" autoAdjust="0"/>
  </p:normalViewPr>
  <p:slideViewPr>
    <p:cSldViewPr snapToGrid="0">
      <p:cViewPr varScale="1">
        <p:scale>
          <a:sx n="85" d="100"/>
          <a:sy n="85" d="100"/>
        </p:scale>
        <p:origin x="-306" y="-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29/08/2026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2003778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29/08/2026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1102157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29/08/2026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6600801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29/08/2026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22834495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29/08/2026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2663865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29/08/2026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376323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29/08/2026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3989902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29/08/2026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1997102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29/08/2026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3738991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29/08/2026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3709322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29/08/2026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14194340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A84CA3-116E-4ABF-8AA6-EBE32C84C16F}" type="datetimeFigureOut">
              <a:rPr lang="fr-FR" smtClean="0"/>
              <a:pPr/>
              <a:t>29/08/2026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4265157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172092" y="690184"/>
            <a:ext cx="3334215" cy="5420481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237998" y="480617"/>
            <a:ext cx="3600953" cy="5668166"/>
          </a:xfrm>
          <a:prstGeom prst="rect">
            <a:avLst/>
          </a:prstGeom>
        </p:spPr>
      </p:pic>
      <p:sp>
        <p:nvSpPr>
          <p:cNvPr id="2" name="ZoneTexte 1"/>
          <p:cNvSpPr txBox="1"/>
          <p:nvPr/>
        </p:nvSpPr>
        <p:spPr>
          <a:xfrm>
            <a:off x="9744075" y="4019550"/>
            <a:ext cx="26098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High for WORD mode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6610350" y="2486025"/>
            <a:ext cx="16573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High for </a:t>
            </a:r>
            <a:r>
              <a:rPr lang="fr-FR" sz="1200" dirty="0" err="1" smtClean="0">
                <a:solidFill>
                  <a:srgbClr val="FF0000"/>
                </a:solidFill>
              </a:rPr>
              <a:t>read</a:t>
            </a:r>
            <a:r>
              <a:rPr lang="fr-FR" sz="1200" dirty="0" smtClean="0">
                <a:solidFill>
                  <a:srgbClr val="FF0000"/>
                </a:solidFill>
              </a:rPr>
              <a:t> mode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6648450" y="4057650"/>
            <a:ext cx="13620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err="1" smtClean="0">
                <a:solidFill>
                  <a:srgbClr val="00B050"/>
                </a:solidFill>
              </a:rPr>
              <a:t>Low</a:t>
            </a:r>
            <a:r>
              <a:rPr lang="fr-FR" sz="1200" dirty="0" smtClean="0">
                <a:solidFill>
                  <a:srgbClr val="00B050"/>
                </a:solidFill>
              </a:rPr>
              <a:t> for </a:t>
            </a:r>
            <a:r>
              <a:rPr lang="fr-FR" sz="1200" dirty="0" err="1" smtClean="0">
                <a:solidFill>
                  <a:srgbClr val="00B050"/>
                </a:solidFill>
              </a:rPr>
              <a:t>read</a:t>
            </a:r>
            <a:r>
              <a:rPr lang="fr-FR" sz="1200" dirty="0" smtClean="0">
                <a:solidFill>
                  <a:srgbClr val="00B050"/>
                </a:solidFill>
              </a:rPr>
              <a:t> mode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9" name="ZoneTexte 8"/>
          <p:cNvSpPr txBox="1"/>
          <p:nvPr/>
        </p:nvSpPr>
        <p:spPr>
          <a:xfrm>
            <a:off x="1619251" y="4181475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4238625" y="4171950"/>
            <a:ext cx="1209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6934201" y="4352925"/>
            <a:ext cx="990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00B050"/>
                </a:solidFill>
              </a:rPr>
              <a:t>0a</a:t>
            </a:r>
            <a:endParaRPr lang="fr-FR" sz="1200" baseline="-25000" dirty="0">
              <a:solidFill>
                <a:srgbClr val="00B050"/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1628776" y="4029075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7019926" y="4210050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GND on PCB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9734551" y="4171950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GND on PCB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15" name="ZoneTexte 14"/>
          <p:cNvSpPr txBox="1"/>
          <p:nvPr/>
        </p:nvSpPr>
        <p:spPr>
          <a:xfrm>
            <a:off x="790576" y="2466975"/>
            <a:ext cx="2390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LS174 Q0, </a:t>
            </a:r>
            <a:r>
              <a:rPr lang="fr-FR" sz="1200" dirty="0" err="1" smtClean="0">
                <a:solidFill>
                  <a:srgbClr val="FF0000"/>
                </a:solidFill>
              </a:rPr>
              <a:t>bankswitching</a:t>
            </a:r>
            <a:endParaRPr lang="fr-FR" sz="1200" dirty="0" smtClean="0">
              <a:solidFill>
                <a:srgbClr val="FF0000"/>
              </a:solidFill>
            </a:endParaRPr>
          </a:p>
          <a:p>
            <a:r>
              <a:rPr lang="fr-FR" sz="1200" dirty="0" smtClean="0">
                <a:solidFill>
                  <a:srgbClr val="FF0000"/>
                </a:solidFill>
              </a:rPr>
              <a:t>(not </a:t>
            </a:r>
            <a:r>
              <a:rPr lang="fr-FR" sz="1200" dirty="0" err="1" smtClean="0">
                <a:solidFill>
                  <a:srgbClr val="FF0000"/>
                </a:solidFill>
              </a:rPr>
              <a:t>used</a:t>
            </a:r>
            <a:r>
              <a:rPr lang="fr-FR" sz="1200" dirty="0" smtClean="0">
                <a:solidFill>
                  <a:srgbClr val="FF0000"/>
                </a:solidFill>
              </a:rPr>
              <a:t> in </a:t>
            </a:r>
            <a:r>
              <a:rPr lang="fr-FR" sz="1200" dirty="0" err="1" smtClean="0">
                <a:solidFill>
                  <a:srgbClr val="FF0000"/>
                </a:solidFill>
              </a:rPr>
              <a:t>Sengoku</a:t>
            </a:r>
            <a:r>
              <a:rPr lang="fr-FR" sz="1200" dirty="0" smtClean="0">
                <a:solidFill>
                  <a:srgbClr val="FF0000"/>
                </a:solidFill>
              </a:rPr>
              <a:t> 2)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1638300" y="4333875"/>
            <a:ext cx="22764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FF0000"/>
                </a:solidFill>
              </a:rPr>
              <a:t>0a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18" name="ZoneTexte 17"/>
          <p:cNvSpPr txBox="1"/>
          <p:nvPr/>
        </p:nvSpPr>
        <p:spPr>
          <a:xfrm>
            <a:off x="2457450" y="2047875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On </a:t>
            </a:r>
            <a:r>
              <a:rPr lang="fr-FR" dirty="0" err="1" smtClean="0"/>
              <a:t>actual</a:t>
            </a:r>
            <a:r>
              <a:rPr lang="fr-FR" dirty="0" smtClean="0"/>
              <a:t> </a:t>
            </a:r>
            <a:r>
              <a:rPr lang="fr-FR" dirty="0" err="1" smtClean="0"/>
              <a:t>bootleg</a:t>
            </a:r>
            <a:r>
              <a:rPr lang="fr-FR" dirty="0" smtClean="0"/>
              <a:t> PCB</a:t>
            </a:r>
            <a:endParaRPr lang="fr-FR" dirty="0"/>
          </a:p>
        </p:txBody>
      </p:sp>
      <p:sp>
        <p:nvSpPr>
          <p:cNvPr id="19" name="ZoneTexte 18"/>
          <p:cNvSpPr txBox="1"/>
          <p:nvPr/>
        </p:nvSpPr>
        <p:spPr>
          <a:xfrm>
            <a:off x="8134350" y="2009775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For drop-in replacement</a:t>
            </a:r>
            <a:endParaRPr lang="fr-FR" dirty="0"/>
          </a:p>
        </p:txBody>
      </p:sp>
      <p:sp>
        <p:nvSpPr>
          <p:cNvPr id="20" name="ZoneTexte 19"/>
          <p:cNvSpPr txBox="1"/>
          <p:nvPr/>
        </p:nvSpPr>
        <p:spPr>
          <a:xfrm>
            <a:off x="4248151" y="4000500"/>
            <a:ext cx="8145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3.3V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21" name="ZoneTexte 20"/>
          <p:cNvSpPr txBox="1"/>
          <p:nvPr/>
        </p:nvSpPr>
        <p:spPr>
          <a:xfrm>
            <a:off x="5381626" y="1533525"/>
            <a:ext cx="15620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 err="1" smtClean="0"/>
              <a:t>Cut</a:t>
            </a:r>
            <a:r>
              <a:rPr lang="fr-FR" sz="1400" dirty="0" smtClean="0"/>
              <a:t> trace and use </a:t>
            </a:r>
            <a:r>
              <a:rPr lang="fr-FR" sz="1400" dirty="0" err="1" smtClean="0"/>
              <a:t>bodge</a:t>
            </a:r>
            <a:r>
              <a:rPr lang="fr-FR" sz="1400" dirty="0" smtClean="0"/>
              <a:t> </a:t>
            </a:r>
            <a:r>
              <a:rPr lang="fr-FR" sz="1400" dirty="0" err="1" smtClean="0"/>
              <a:t>wire</a:t>
            </a:r>
            <a:r>
              <a:rPr lang="fr-FR" sz="1400" dirty="0" smtClean="0"/>
              <a:t> </a:t>
            </a:r>
            <a:r>
              <a:rPr lang="fr-FR" sz="1400" dirty="0" err="1" smtClean="0"/>
              <a:t>from</a:t>
            </a:r>
            <a:r>
              <a:rPr lang="fr-FR" sz="1400" dirty="0" smtClean="0"/>
              <a:t> pin 1 to VCC</a:t>
            </a:r>
            <a:endParaRPr lang="fr-FR" sz="1400" dirty="0"/>
          </a:p>
        </p:txBody>
      </p:sp>
      <p:cxnSp>
        <p:nvCxnSpPr>
          <p:cNvPr id="23" name="Connecteur droit avec flèche 22"/>
          <p:cNvCxnSpPr/>
          <p:nvPr/>
        </p:nvCxnSpPr>
        <p:spPr>
          <a:xfrm>
            <a:off x="6515100" y="2143125"/>
            <a:ext cx="1685925" cy="39052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3760226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2813" y="-8865"/>
            <a:ext cx="10095421" cy="68668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731000" y="482600"/>
            <a:ext cx="3535709" cy="5486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237998" y="480617"/>
            <a:ext cx="3600953" cy="5668166"/>
          </a:xfrm>
          <a:prstGeom prst="rect">
            <a:avLst/>
          </a:prstGeom>
        </p:spPr>
      </p:pic>
      <p:sp>
        <p:nvSpPr>
          <p:cNvPr id="2" name="ZoneTexte 1"/>
          <p:cNvSpPr txBox="1"/>
          <p:nvPr/>
        </p:nvSpPr>
        <p:spPr>
          <a:xfrm>
            <a:off x="9731375" y="4057650"/>
            <a:ext cx="26098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High for WORD mode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6610350" y="2486025"/>
            <a:ext cx="16573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High for </a:t>
            </a:r>
            <a:r>
              <a:rPr lang="fr-FR" sz="1200" dirty="0" err="1" smtClean="0">
                <a:solidFill>
                  <a:srgbClr val="FF0000"/>
                </a:solidFill>
              </a:rPr>
              <a:t>read</a:t>
            </a:r>
            <a:r>
              <a:rPr lang="fr-FR" sz="1200" dirty="0" smtClean="0">
                <a:solidFill>
                  <a:srgbClr val="FF0000"/>
                </a:solidFill>
              </a:rPr>
              <a:t> mode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6648450" y="4057650"/>
            <a:ext cx="13620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err="1" smtClean="0">
                <a:solidFill>
                  <a:srgbClr val="00B050"/>
                </a:solidFill>
              </a:rPr>
              <a:t>Low</a:t>
            </a:r>
            <a:r>
              <a:rPr lang="fr-FR" sz="1200" dirty="0" smtClean="0">
                <a:solidFill>
                  <a:srgbClr val="00B050"/>
                </a:solidFill>
              </a:rPr>
              <a:t> for </a:t>
            </a:r>
            <a:r>
              <a:rPr lang="fr-FR" sz="1200" dirty="0" err="1" smtClean="0">
                <a:solidFill>
                  <a:srgbClr val="00B050"/>
                </a:solidFill>
              </a:rPr>
              <a:t>read</a:t>
            </a:r>
            <a:r>
              <a:rPr lang="fr-FR" sz="1200" dirty="0" smtClean="0">
                <a:solidFill>
                  <a:srgbClr val="00B050"/>
                </a:solidFill>
              </a:rPr>
              <a:t> mode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9" name="ZoneTexte 8"/>
          <p:cNvSpPr txBox="1"/>
          <p:nvPr/>
        </p:nvSpPr>
        <p:spPr>
          <a:xfrm>
            <a:off x="1619251" y="4181475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4238625" y="4171950"/>
            <a:ext cx="1209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6934201" y="4352925"/>
            <a:ext cx="990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00B050"/>
                </a:solidFill>
              </a:rPr>
              <a:t>0a</a:t>
            </a:r>
            <a:endParaRPr lang="fr-FR" sz="1200" baseline="-25000" dirty="0">
              <a:solidFill>
                <a:srgbClr val="00B050"/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1628776" y="4029075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7019926" y="4210050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GND on PCB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9721851" y="4210050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GND on PCB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15" name="ZoneTexte 14"/>
          <p:cNvSpPr txBox="1"/>
          <p:nvPr/>
        </p:nvSpPr>
        <p:spPr>
          <a:xfrm>
            <a:off x="790576" y="2466975"/>
            <a:ext cx="2390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LS174 Q0, </a:t>
            </a:r>
            <a:r>
              <a:rPr lang="fr-FR" sz="1200" dirty="0" err="1" smtClean="0">
                <a:solidFill>
                  <a:srgbClr val="FF0000"/>
                </a:solidFill>
              </a:rPr>
              <a:t>bankswitching</a:t>
            </a:r>
            <a:endParaRPr lang="fr-FR" sz="1200" dirty="0" smtClean="0">
              <a:solidFill>
                <a:srgbClr val="FF0000"/>
              </a:solidFill>
            </a:endParaRPr>
          </a:p>
          <a:p>
            <a:r>
              <a:rPr lang="fr-FR" sz="1200" dirty="0" smtClean="0">
                <a:solidFill>
                  <a:srgbClr val="FF0000"/>
                </a:solidFill>
              </a:rPr>
              <a:t>(not </a:t>
            </a:r>
            <a:r>
              <a:rPr lang="fr-FR" sz="1200" dirty="0" err="1" smtClean="0">
                <a:solidFill>
                  <a:srgbClr val="FF0000"/>
                </a:solidFill>
              </a:rPr>
              <a:t>used</a:t>
            </a:r>
            <a:r>
              <a:rPr lang="fr-FR" sz="1200" dirty="0" smtClean="0">
                <a:solidFill>
                  <a:srgbClr val="FF0000"/>
                </a:solidFill>
              </a:rPr>
              <a:t> in </a:t>
            </a:r>
            <a:r>
              <a:rPr lang="fr-FR" sz="1200" dirty="0" err="1" smtClean="0">
                <a:solidFill>
                  <a:srgbClr val="FF0000"/>
                </a:solidFill>
              </a:rPr>
              <a:t>Sengoku</a:t>
            </a:r>
            <a:r>
              <a:rPr lang="fr-FR" sz="1200" dirty="0" smtClean="0">
                <a:solidFill>
                  <a:srgbClr val="FF0000"/>
                </a:solidFill>
              </a:rPr>
              <a:t> 2)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1638300" y="4333875"/>
            <a:ext cx="22764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FF0000"/>
                </a:solidFill>
              </a:rPr>
              <a:t>0a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18" name="ZoneTexte 17"/>
          <p:cNvSpPr txBox="1"/>
          <p:nvPr/>
        </p:nvSpPr>
        <p:spPr>
          <a:xfrm>
            <a:off x="2457450" y="2047875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On </a:t>
            </a:r>
            <a:r>
              <a:rPr lang="fr-FR" dirty="0" err="1" smtClean="0"/>
              <a:t>actual</a:t>
            </a:r>
            <a:r>
              <a:rPr lang="fr-FR" dirty="0" smtClean="0"/>
              <a:t> </a:t>
            </a:r>
            <a:r>
              <a:rPr lang="fr-FR" dirty="0" err="1" smtClean="0"/>
              <a:t>bootleg</a:t>
            </a:r>
            <a:r>
              <a:rPr lang="fr-FR" dirty="0" smtClean="0"/>
              <a:t> PCB</a:t>
            </a:r>
            <a:endParaRPr lang="fr-FR" dirty="0"/>
          </a:p>
        </p:txBody>
      </p:sp>
      <p:sp>
        <p:nvSpPr>
          <p:cNvPr id="19" name="ZoneTexte 18"/>
          <p:cNvSpPr txBox="1"/>
          <p:nvPr/>
        </p:nvSpPr>
        <p:spPr>
          <a:xfrm>
            <a:off x="8502650" y="1997075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For drop-in replacement</a:t>
            </a:r>
            <a:endParaRPr lang="fr-FR" dirty="0"/>
          </a:p>
        </p:txBody>
      </p:sp>
      <p:sp>
        <p:nvSpPr>
          <p:cNvPr id="20" name="ZoneTexte 19"/>
          <p:cNvSpPr txBox="1"/>
          <p:nvPr/>
        </p:nvSpPr>
        <p:spPr>
          <a:xfrm>
            <a:off x="4248151" y="4000500"/>
            <a:ext cx="10477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3.3V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21" name="ZoneTexte 20"/>
          <p:cNvSpPr txBox="1"/>
          <p:nvPr/>
        </p:nvSpPr>
        <p:spPr>
          <a:xfrm>
            <a:off x="5381626" y="1533525"/>
            <a:ext cx="15620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 err="1" smtClean="0"/>
              <a:t>Cut</a:t>
            </a:r>
            <a:r>
              <a:rPr lang="fr-FR" sz="1400" dirty="0" smtClean="0"/>
              <a:t> trace and use </a:t>
            </a:r>
            <a:r>
              <a:rPr lang="fr-FR" sz="1400" dirty="0" err="1" smtClean="0"/>
              <a:t>bodge</a:t>
            </a:r>
            <a:r>
              <a:rPr lang="fr-FR" sz="1400" dirty="0" smtClean="0"/>
              <a:t> </a:t>
            </a:r>
            <a:r>
              <a:rPr lang="fr-FR" sz="1400" dirty="0" err="1" smtClean="0"/>
              <a:t>wire</a:t>
            </a:r>
            <a:r>
              <a:rPr lang="fr-FR" sz="1400" dirty="0" smtClean="0"/>
              <a:t> </a:t>
            </a:r>
            <a:r>
              <a:rPr lang="fr-FR" sz="1400" dirty="0" err="1" smtClean="0"/>
              <a:t>from</a:t>
            </a:r>
            <a:r>
              <a:rPr lang="fr-FR" sz="1400" dirty="0" smtClean="0"/>
              <a:t> pin 1 to VCC</a:t>
            </a:r>
            <a:endParaRPr lang="fr-FR" sz="1400" dirty="0"/>
          </a:p>
        </p:txBody>
      </p:sp>
      <p:cxnSp>
        <p:nvCxnSpPr>
          <p:cNvPr id="23" name="Connecteur droit avec flèche 22"/>
          <p:cNvCxnSpPr/>
          <p:nvPr/>
        </p:nvCxnSpPr>
        <p:spPr>
          <a:xfrm>
            <a:off x="6515100" y="2143125"/>
            <a:ext cx="1685925" cy="39052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3760226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5859" y="0"/>
            <a:ext cx="11906141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24691" y="72870"/>
            <a:ext cx="7198822" cy="3518227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248699" y="360336"/>
            <a:ext cx="4256116" cy="3112682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5187142" y="3483032"/>
            <a:ext cx="6833062" cy="3374967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3017673" y="3453826"/>
            <a:ext cx="1787083" cy="332936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4525580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801824" y="383593"/>
            <a:ext cx="3175309" cy="5915645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246899" y="451929"/>
            <a:ext cx="7945101" cy="5810596"/>
          </a:xfrm>
          <a:prstGeom prst="rect">
            <a:avLst/>
          </a:prstGeom>
        </p:spPr>
      </p:pic>
      <p:sp>
        <p:nvSpPr>
          <p:cNvPr id="4" name="ZoneTexte 3"/>
          <p:cNvSpPr txBox="1"/>
          <p:nvPr/>
        </p:nvSpPr>
        <p:spPr>
          <a:xfrm>
            <a:off x="0" y="3315396"/>
            <a:ext cx="1048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3746346" y="3309124"/>
            <a:ext cx="8145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3.3V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1419576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868731" y="446512"/>
            <a:ext cx="3112253" cy="5798171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84594" y="400399"/>
            <a:ext cx="7207405" cy="59780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ZoneTexte 10"/>
          <p:cNvSpPr txBox="1"/>
          <p:nvPr/>
        </p:nvSpPr>
        <p:spPr>
          <a:xfrm>
            <a:off x="0" y="3579309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3837181" y="3525179"/>
            <a:ext cx="1209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9525" y="3360002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0" y="3765163"/>
            <a:ext cx="993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FF0000"/>
                </a:solidFill>
              </a:rPr>
              <a:t>0a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15" name="ZoneTexte 14"/>
          <p:cNvSpPr txBox="1"/>
          <p:nvPr/>
        </p:nvSpPr>
        <p:spPr>
          <a:xfrm>
            <a:off x="3846707" y="3297973"/>
            <a:ext cx="10477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3.3V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1419576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182" y="423901"/>
            <a:ext cx="8078788" cy="60309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28165" y="82280"/>
            <a:ext cx="3429000" cy="6697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54351" y="0"/>
            <a:ext cx="3563007" cy="6857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22663" y="82280"/>
            <a:ext cx="3429000" cy="6697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940049" y="33453"/>
            <a:ext cx="3411885" cy="67756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593</TotalTime>
  <Words>149</Words>
  <Application>Microsoft Office PowerPoint</Application>
  <PresentationFormat>Personnalisé</PresentationFormat>
  <Paragraphs>39</Paragraphs>
  <Slides>9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0" baseType="lpstr">
      <vt:lpstr>Thème Office</vt:lpstr>
      <vt:lpstr>Diapositive 1</vt:lpstr>
      <vt:lpstr>Diapositive 2</vt:lpstr>
      <vt:lpstr>Diapositive 3</vt:lpstr>
      <vt:lpstr>Diapositive 4</vt:lpstr>
      <vt:lpstr>Diapositive 5</vt:lpstr>
      <vt:lpstr>Diapositive 6</vt:lpstr>
      <vt:lpstr>Diapositive 7</vt:lpstr>
      <vt:lpstr>Diapositive 8</vt:lpstr>
      <vt:lpstr>Diapositive 9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boichot</dc:creator>
  <cp:lastModifiedBy>BOICHOT</cp:lastModifiedBy>
  <cp:revision>38</cp:revision>
  <dcterms:created xsi:type="dcterms:W3CDTF">2026-07-15T07:56:11Z</dcterms:created>
  <dcterms:modified xsi:type="dcterms:W3CDTF">2026-08-29T15:41:06Z</dcterms:modified>
</cp:coreProperties>
</file>