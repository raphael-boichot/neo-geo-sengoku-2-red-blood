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-1374" y="-4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22/08/2026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003778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22/08/2026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102157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22/08/2026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660080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22/08/2026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283449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22/08/2026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663865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22/08/2026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76323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22/08/2026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989902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22/08/2026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997102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22/08/2026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738991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22/08/2026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709322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22/08/2026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419434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84CA3-116E-4ABF-8AA6-EBE32C84C16F}" type="datetimeFigureOut">
              <a:rPr lang="fr-FR" smtClean="0"/>
              <a:pPr/>
              <a:t>22/08/2026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4265157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172092" y="690184"/>
            <a:ext cx="3334215" cy="5420481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37998" y="480617"/>
            <a:ext cx="3600953" cy="5668166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9744075" y="4019550"/>
            <a:ext cx="2609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00B050"/>
                </a:solidFill>
              </a:rPr>
              <a:t>High for WORD mode</a:t>
            </a:r>
            <a:endParaRPr lang="fr-FR" sz="1200" dirty="0">
              <a:solidFill>
                <a:srgbClr val="00B050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6610350" y="2486025"/>
            <a:ext cx="1657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High for </a:t>
            </a:r>
            <a:r>
              <a:rPr lang="fr-FR" sz="1200" dirty="0" err="1" smtClean="0">
                <a:solidFill>
                  <a:srgbClr val="FF0000"/>
                </a:solidFill>
              </a:rPr>
              <a:t>read</a:t>
            </a:r>
            <a:r>
              <a:rPr lang="fr-FR" sz="1200" dirty="0" smtClean="0">
                <a:solidFill>
                  <a:srgbClr val="FF0000"/>
                </a:solidFill>
              </a:rPr>
              <a:t> mode</a:t>
            </a:r>
            <a:endParaRPr lang="fr-FR" sz="1200" dirty="0">
              <a:solidFill>
                <a:srgbClr val="FF0000"/>
              </a:solidFill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6648450" y="4057650"/>
            <a:ext cx="1362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err="1" smtClean="0">
                <a:solidFill>
                  <a:srgbClr val="00B050"/>
                </a:solidFill>
              </a:rPr>
              <a:t>Low</a:t>
            </a:r>
            <a:r>
              <a:rPr lang="fr-FR" sz="1200" dirty="0" smtClean="0">
                <a:solidFill>
                  <a:srgbClr val="00B050"/>
                </a:solidFill>
              </a:rPr>
              <a:t> for </a:t>
            </a:r>
            <a:r>
              <a:rPr lang="fr-FR" sz="1200" dirty="0" err="1" smtClean="0">
                <a:solidFill>
                  <a:srgbClr val="00B050"/>
                </a:solidFill>
              </a:rPr>
              <a:t>read</a:t>
            </a:r>
            <a:r>
              <a:rPr lang="fr-FR" sz="1200" dirty="0" smtClean="0">
                <a:solidFill>
                  <a:srgbClr val="00B050"/>
                </a:solidFill>
              </a:rPr>
              <a:t> mode</a:t>
            </a:r>
            <a:endParaRPr lang="fr-FR" sz="1200" dirty="0">
              <a:solidFill>
                <a:srgbClr val="00B050"/>
              </a:solidFill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1619251" y="4181475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GND on PCB</a:t>
            </a:r>
            <a:endParaRPr lang="fr-FR" sz="1200" dirty="0">
              <a:solidFill>
                <a:srgbClr val="FF0000"/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4238625" y="4171950"/>
            <a:ext cx="12096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GND on PCB</a:t>
            </a:r>
            <a:endParaRPr lang="fr-FR" sz="1200" dirty="0">
              <a:solidFill>
                <a:srgbClr val="FF0000"/>
              </a:solidFill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6934201" y="4352925"/>
            <a:ext cx="990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00B050"/>
                </a:solidFill>
              </a:rPr>
              <a:t>To LS139 O</a:t>
            </a:r>
            <a:r>
              <a:rPr lang="fr-FR" sz="1200" baseline="-25000" dirty="0" smtClean="0">
                <a:solidFill>
                  <a:srgbClr val="00B050"/>
                </a:solidFill>
              </a:rPr>
              <a:t>0a</a:t>
            </a:r>
            <a:endParaRPr lang="fr-FR" sz="1200" baseline="-25000" dirty="0">
              <a:solidFill>
                <a:srgbClr val="00B050"/>
              </a:solidFill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1628776" y="4029075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GND on PCB</a:t>
            </a:r>
            <a:endParaRPr lang="fr-FR" sz="1200" dirty="0">
              <a:solidFill>
                <a:srgbClr val="FF0000"/>
              </a:solidFill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7019926" y="4210050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00B050"/>
                </a:solidFill>
              </a:rPr>
              <a:t>GND on PCB</a:t>
            </a:r>
            <a:endParaRPr lang="fr-FR" sz="1200" dirty="0">
              <a:solidFill>
                <a:srgbClr val="00B050"/>
              </a:solidFill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9734551" y="4171950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00B050"/>
                </a:solidFill>
              </a:rPr>
              <a:t>GND on PCB</a:t>
            </a:r>
            <a:endParaRPr lang="fr-FR" sz="1200" dirty="0">
              <a:solidFill>
                <a:srgbClr val="00B050"/>
              </a:solidFill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790576" y="2466975"/>
            <a:ext cx="2390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To LS174 Q0, </a:t>
            </a:r>
            <a:r>
              <a:rPr lang="fr-FR" sz="1200" dirty="0" err="1" smtClean="0">
                <a:solidFill>
                  <a:srgbClr val="FF0000"/>
                </a:solidFill>
              </a:rPr>
              <a:t>bankswitching</a:t>
            </a:r>
            <a:endParaRPr lang="fr-FR" sz="1200" dirty="0" smtClean="0">
              <a:solidFill>
                <a:srgbClr val="FF0000"/>
              </a:solidFill>
            </a:endParaRPr>
          </a:p>
          <a:p>
            <a:r>
              <a:rPr lang="fr-FR" sz="1200" dirty="0" smtClean="0">
                <a:solidFill>
                  <a:srgbClr val="FF0000"/>
                </a:solidFill>
              </a:rPr>
              <a:t>(not </a:t>
            </a:r>
            <a:r>
              <a:rPr lang="fr-FR" sz="1200" dirty="0" err="1" smtClean="0">
                <a:solidFill>
                  <a:srgbClr val="FF0000"/>
                </a:solidFill>
              </a:rPr>
              <a:t>used</a:t>
            </a:r>
            <a:r>
              <a:rPr lang="fr-FR" sz="1200" dirty="0" smtClean="0">
                <a:solidFill>
                  <a:srgbClr val="FF0000"/>
                </a:solidFill>
              </a:rPr>
              <a:t> in </a:t>
            </a:r>
            <a:r>
              <a:rPr lang="fr-FR" sz="1200" dirty="0" err="1" smtClean="0">
                <a:solidFill>
                  <a:srgbClr val="FF0000"/>
                </a:solidFill>
              </a:rPr>
              <a:t>Sengoku</a:t>
            </a:r>
            <a:r>
              <a:rPr lang="fr-FR" sz="1200" dirty="0" smtClean="0">
                <a:solidFill>
                  <a:srgbClr val="FF0000"/>
                </a:solidFill>
              </a:rPr>
              <a:t> 2)</a:t>
            </a:r>
            <a:endParaRPr lang="fr-FR" sz="1200" dirty="0">
              <a:solidFill>
                <a:srgbClr val="FF0000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1638300" y="4333875"/>
            <a:ext cx="22764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To LS139 O</a:t>
            </a:r>
            <a:r>
              <a:rPr lang="fr-FR" sz="1200" baseline="-25000" dirty="0" smtClean="0">
                <a:solidFill>
                  <a:srgbClr val="FF0000"/>
                </a:solidFill>
              </a:rPr>
              <a:t>0a</a:t>
            </a:r>
            <a:endParaRPr lang="fr-FR" sz="1200" baseline="-25000" dirty="0">
              <a:solidFill>
                <a:srgbClr val="FF0000"/>
              </a:solidFill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2457450" y="2047875"/>
            <a:ext cx="262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On </a:t>
            </a:r>
            <a:r>
              <a:rPr lang="fr-FR" dirty="0" err="1" smtClean="0"/>
              <a:t>actual</a:t>
            </a:r>
            <a:r>
              <a:rPr lang="fr-FR" dirty="0" smtClean="0"/>
              <a:t> </a:t>
            </a:r>
            <a:r>
              <a:rPr lang="fr-FR" dirty="0" err="1" smtClean="0"/>
              <a:t>bootleg</a:t>
            </a:r>
            <a:r>
              <a:rPr lang="fr-FR" dirty="0" smtClean="0"/>
              <a:t> PCB</a:t>
            </a:r>
            <a:endParaRPr lang="fr-FR" dirty="0"/>
          </a:p>
        </p:txBody>
      </p:sp>
      <p:sp>
        <p:nvSpPr>
          <p:cNvPr id="19" name="ZoneTexte 18"/>
          <p:cNvSpPr txBox="1"/>
          <p:nvPr/>
        </p:nvSpPr>
        <p:spPr>
          <a:xfrm>
            <a:off x="8134350" y="2009775"/>
            <a:ext cx="262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For drop-in replacement</a:t>
            </a:r>
            <a:endParaRPr lang="fr-FR" dirty="0"/>
          </a:p>
        </p:txBody>
      </p:sp>
      <p:sp>
        <p:nvSpPr>
          <p:cNvPr id="20" name="ZoneTexte 19"/>
          <p:cNvSpPr txBox="1"/>
          <p:nvPr/>
        </p:nvSpPr>
        <p:spPr>
          <a:xfrm>
            <a:off x="4248151" y="4000500"/>
            <a:ext cx="10477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To 3.3V</a:t>
            </a:r>
            <a:endParaRPr lang="fr-FR" sz="1200" baseline="-25000" dirty="0">
              <a:solidFill>
                <a:srgbClr val="FF0000"/>
              </a:solidFill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5381626" y="1533525"/>
            <a:ext cx="15620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err="1" smtClean="0"/>
              <a:t>Cut</a:t>
            </a:r>
            <a:r>
              <a:rPr lang="fr-FR" sz="1400" dirty="0" smtClean="0"/>
              <a:t> trace and use </a:t>
            </a:r>
            <a:r>
              <a:rPr lang="fr-FR" sz="1400" dirty="0" err="1" smtClean="0"/>
              <a:t>bodge</a:t>
            </a:r>
            <a:r>
              <a:rPr lang="fr-FR" sz="1400" dirty="0" smtClean="0"/>
              <a:t> </a:t>
            </a:r>
            <a:r>
              <a:rPr lang="fr-FR" sz="1400" dirty="0" err="1" smtClean="0"/>
              <a:t>wire</a:t>
            </a:r>
            <a:r>
              <a:rPr lang="fr-FR" sz="1400" dirty="0" smtClean="0"/>
              <a:t> </a:t>
            </a:r>
            <a:r>
              <a:rPr lang="fr-FR" sz="1400" dirty="0" err="1" smtClean="0"/>
              <a:t>from</a:t>
            </a:r>
            <a:r>
              <a:rPr lang="fr-FR" sz="1400" dirty="0" smtClean="0"/>
              <a:t> pin 1 to VCC</a:t>
            </a:r>
            <a:endParaRPr lang="fr-FR" sz="1400" dirty="0"/>
          </a:p>
        </p:txBody>
      </p:sp>
      <p:cxnSp>
        <p:nvCxnSpPr>
          <p:cNvPr id="23" name="Connecteur droit avec flèche 22"/>
          <p:cNvCxnSpPr/>
          <p:nvPr/>
        </p:nvCxnSpPr>
        <p:spPr>
          <a:xfrm>
            <a:off x="6515100" y="2143125"/>
            <a:ext cx="1685925" cy="39052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760226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2813" y="-8865"/>
            <a:ext cx="10095421" cy="6866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31000" y="482600"/>
            <a:ext cx="3535709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37998" y="480617"/>
            <a:ext cx="3600953" cy="5668166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9731375" y="4057650"/>
            <a:ext cx="2609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00B050"/>
                </a:solidFill>
              </a:rPr>
              <a:t>High for WORD mode</a:t>
            </a:r>
            <a:endParaRPr lang="fr-FR" sz="1200" dirty="0">
              <a:solidFill>
                <a:srgbClr val="00B050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6610350" y="2486025"/>
            <a:ext cx="1657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High for </a:t>
            </a:r>
            <a:r>
              <a:rPr lang="fr-FR" sz="1200" dirty="0" err="1" smtClean="0">
                <a:solidFill>
                  <a:srgbClr val="FF0000"/>
                </a:solidFill>
              </a:rPr>
              <a:t>read</a:t>
            </a:r>
            <a:r>
              <a:rPr lang="fr-FR" sz="1200" dirty="0" smtClean="0">
                <a:solidFill>
                  <a:srgbClr val="FF0000"/>
                </a:solidFill>
              </a:rPr>
              <a:t> mode</a:t>
            </a:r>
            <a:endParaRPr lang="fr-FR" sz="1200" dirty="0">
              <a:solidFill>
                <a:srgbClr val="FF0000"/>
              </a:solidFill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6648450" y="4057650"/>
            <a:ext cx="1362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err="1" smtClean="0">
                <a:solidFill>
                  <a:srgbClr val="00B050"/>
                </a:solidFill>
              </a:rPr>
              <a:t>Low</a:t>
            </a:r>
            <a:r>
              <a:rPr lang="fr-FR" sz="1200" dirty="0" smtClean="0">
                <a:solidFill>
                  <a:srgbClr val="00B050"/>
                </a:solidFill>
              </a:rPr>
              <a:t> for </a:t>
            </a:r>
            <a:r>
              <a:rPr lang="fr-FR" sz="1200" dirty="0" err="1" smtClean="0">
                <a:solidFill>
                  <a:srgbClr val="00B050"/>
                </a:solidFill>
              </a:rPr>
              <a:t>read</a:t>
            </a:r>
            <a:r>
              <a:rPr lang="fr-FR" sz="1200" dirty="0" smtClean="0">
                <a:solidFill>
                  <a:srgbClr val="00B050"/>
                </a:solidFill>
              </a:rPr>
              <a:t> mode</a:t>
            </a:r>
            <a:endParaRPr lang="fr-FR" sz="1200" dirty="0">
              <a:solidFill>
                <a:srgbClr val="00B050"/>
              </a:solidFill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1619251" y="4181475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GND on PCB</a:t>
            </a:r>
            <a:endParaRPr lang="fr-FR" sz="1200" dirty="0">
              <a:solidFill>
                <a:srgbClr val="FF0000"/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4238625" y="4171950"/>
            <a:ext cx="12096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GND on PCB</a:t>
            </a:r>
            <a:endParaRPr lang="fr-FR" sz="1200" dirty="0">
              <a:solidFill>
                <a:srgbClr val="FF0000"/>
              </a:solidFill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6934201" y="4352925"/>
            <a:ext cx="990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00B050"/>
                </a:solidFill>
              </a:rPr>
              <a:t>To LS139 O</a:t>
            </a:r>
            <a:r>
              <a:rPr lang="fr-FR" sz="1200" baseline="-25000" dirty="0" smtClean="0">
                <a:solidFill>
                  <a:srgbClr val="00B050"/>
                </a:solidFill>
              </a:rPr>
              <a:t>0a</a:t>
            </a:r>
            <a:endParaRPr lang="fr-FR" sz="1200" baseline="-25000" dirty="0">
              <a:solidFill>
                <a:srgbClr val="00B050"/>
              </a:solidFill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1628776" y="4029075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GND on PCB</a:t>
            </a:r>
            <a:endParaRPr lang="fr-FR" sz="1200" dirty="0">
              <a:solidFill>
                <a:srgbClr val="FF0000"/>
              </a:solidFill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7019926" y="4210050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00B050"/>
                </a:solidFill>
              </a:rPr>
              <a:t>GND on PCB</a:t>
            </a:r>
            <a:endParaRPr lang="fr-FR" sz="1200" dirty="0">
              <a:solidFill>
                <a:srgbClr val="00B050"/>
              </a:solidFill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9721851" y="4210050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00B050"/>
                </a:solidFill>
              </a:rPr>
              <a:t>GND on PCB</a:t>
            </a:r>
            <a:endParaRPr lang="fr-FR" sz="1200" dirty="0">
              <a:solidFill>
                <a:srgbClr val="00B050"/>
              </a:solidFill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790576" y="2466975"/>
            <a:ext cx="2390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To LS174 Q0, </a:t>
            </a:r>
            <a:r>
              <a:rPr lang="fr-FR" sz="1200" dirty="0" err="1" smtClean="0">
                <a:solidFill>
                  <a:srgbClr val="FF0000"/>
                </a:solidFill>
              </a:rPr>
              <a:t>bankswitching</a:t>
            </a:r>
            <a:endParaRPr lang="fr-FR" sz="1200" dirty="0" smtClean="0">
              <a:solidFill>
                <a:srgbClr val="FF0000"/>
              </a:solidFill>
            </a:endParaRPr>
          </a:p>
          <a:p>
            <a:r>
              <a:rPr lang="fr-FR" sz="1200" dirty="0" smtClean="0">
                <a:solidFill>
                  <a:srgbClr val="FF0000"/>
                </a:solidFill>
              </a:rPr>
              <a:t>(not </a:t>
            </a:r>
            <a:r>
              <a:rPr lang="fr-FR" sz="1200" dirty="0" err="1" smtClean="0">
                <a:solidFill>
                  <a:srgbClr val="FF0000"/>
                </a:solidFill>
              </a:rPr>
              <a:t>used</a:t>
            </a:r>
            <a:r>
              <a:rPr lang="fr-FR" sz="1200" dirty="0" smtClean="0">
                <a:solidFill>
                  <a:srgbClr val="FF0000"/>
                </a:solidFill>
              </a:rPr>
              <a:t> in </a:t>
            </a:r>
            <a:r>
              <a:rPr lang="fr-FR" sz="1200" dirty="0" err="1" smtClean="0">
                <a:solidFill>
                  <a:srgbClr val="FF0000"/>
                </a:solidFill>
              </a:rPr>
              <a:t>Sengoku</a:t>
            </a:r>
            <a:r>
              <a:rPr lang="fr-FR" sz="1200" dirty="0" smtClean="0">
                <a:solidFill>
                  <a:srgbClr val="FF0000"/>
                </a:solidFill>
              </a:rPr>
              <a:t> 2)</a:t>
            </a:r>
            <a:endParaRPr lang="fr-FR" sz="1200" dirty="0">
              <a:solidFill>
                <a:srgbClr val="FF0000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1638300" y="4333875"/>
            <a:ext cx="22764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To LS139 O</a:t>
            </a:r>
            <a:r>
              <a:rPr lang="fr-FR" sz="1200" baseline="-25000" dirty="0" smtClean="0">
                <a:solidFill>
                  <a:srgbClr val="FF0000"/>
                </a:solidFill>
              </a:rPr>
              <a:t>0a</a:t>
            </a:r>
            <a:endParaRPr lang="fr-FR" sz="1200" baseline="-25000" dirty="0">
              <a:solidFill>
                <a:srgbClr val="FF0000"/>
              </a:solidFill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2457450" y="2047875"/>
            <a:ext cx="262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On </a:t>
            </a:r>
            <a:r>
              <a:rPr lang="fr-FR" dirty="0" err="1" smtClean="0"/>
              <a:t>actual</a:t>
            </a:r>
            <a:r>
              <a:rPr lang="fr-FR" dirty="0" smtClean="0"/>
              <a:t> </a:t>
            </a:r>
            <a:r>
              <a:rPr lang="fr-FR" dirty="0" err="1" smtClean="0"/>
              <a:t>bootleg</a:t>
            </a:r>
            <a:r>
              <a:rPr lang="fr-FR" dirty="0" smtClean="0"/>
              <a:t> PCB</a:t>
            </a:r>
            <a:endParaRPr lang="fr-FR" dirty="0"/>
          </a:p>
        </p:txBody>
      </p:sp>
      <p:sp>
        <p:nvSpPr>
          <p:cNvPr id="19" name="ZoneTexte 18"/>
          <p:cNvSpPr txBox="1"/>
          <p:nvPr/>
        </p:nvSpPr>
        <p:spPr>
          <a:xfrm>
            <a:off x="8502650" y="1997075"/>
            <a:ext cx="262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For drop-in replacement</a:t>
            </a:r>
            <a:endParaRPr lang="fr-FR" dirty="0"/>
          </a:p>
        </p:txBody>
      </p:sp>
      <p:sp>
        <p:nvSpPr>
          <p:cNvPr id="20" name="ZoneTexte 19"/>
          <p:cNvSpPr txBox="1"/>
          <p:nvPr/>
        </p:nvSpPr>
        <p:spPr>
          <a:xfrm>
            <a:off x="4248151" y="4000500"/>
            <a:ext cx="10477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To 3.3V</a:t>
            </a:r>
            <a:endParaRPr lang="fr-FR" sz="1200" baseline="-25000" dirty="0">
              <a:solidFill>
                <a:srgbClr val="FF0000"/>
              </a:solidFill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5381626" y="1533525"/>
            <a:ext cx="15620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err="1" smtClean="0"/>
              <a:t>Cut</a:t>
            </a:r>
            <a:r>
              <a:rPr lang="fr-FR" sz="1400" dirty="0" smtClean="0"/>
              <a:t> trace and use </a:t>
            </a:r>
            <a:r>
              <a:rPr lang="fr-FR" sz="1400" dirty="0" err="1" smtClean="0"/>
              <a:t>bodge</a:t>
            </a:r>
            <a:r>
              <a:rPr lang="fr-FR" sz="1400" dirty="0" smtClean="0"/>
              <a:t> </a:t>
            </a:r>
            <a:r>
              <a:rPr lang="fr-FR" sz="1400" dirty="0" err="1" smtClean="0"/>
              <a:t>wire</a:t>
            </a:r>
            <a:r>
              <a:rPr lang="fr-FR" sz="1400" dirty="0" smtClean="0"/>
              <a:t> </a:t>
            </a:r>
            <a:r>
              <a:rPr lang="fr-FR" sz="1400" dirty="0" err="1" smtClean="0"/>
              <a:t>from</a:t>
            </a:r>
            <a:r>
              <a:rPr lang="fr-FR" sz="1400" dirty="0" smtClean="0"/>
              <a:t> pin 1 to VCC</a:t>
            </a:r>
            <a:endParaRPr lang="fr-FR" sz="1400" dirty="0"/>
          </a:p>
        </p:txBody>
      </p:sp>
      <p:cxnSp>
        <p:nvCxnSpPr>
          <p:cNvPr id="23" name="Connecteur droit avec flèche 22"/>
          <p:cNvCxnSpPr/>
          <p:nvPr/>
        </p:nvCxnSpPr>
        <p:spPr>
          <a:xfrm>
            <a:off x="6515100" y="2143125"/>
            <a:ext cx="1685925" cy="39052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760226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859" y="0"/>
            <a:ext cx="11906141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130</Words>
  <Application>Microsoft Office PowerPoint</Application>
  <PresentationFormat>Personnalisé</PresentationFormat>
  <Paragraphs>32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Diapositive 1</vt:lpstr>
      <vt:lpstr>Diapositive 2</vt:lpstr>
      <vt:lpstr>Diapositive 3</vt:lpstr>
      <vt:lpstr>Diapositive 4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boichot</dc:creator>
  <cp:lastModifiedBy>BOICHOT</cp:lastModifiedBy>
  <cp:revision>28</cp:revision>
  <dcterms:created xsi:type="dcterms:W3CDTF">2026-07-15T07:56:11Z</dcterms:created>
  <dcterms:modified xsi:type="dcterms:W3CDTF">2026-08-22T10:58:49Z</dcterms:modified>
</cp:coreProperties>
</file>